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</p:sldIdLst>
  <p:sldSz cx="12192000" cy="6858000"/>
  <p:notesSz cx="6858000" cy="12192000"/>
  <p:embeddedFontLst>
    <p:embeddedFont>
      <p:font typeface="Alexandria" panose="020B0604020202020204" charset="-78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Nobile" panose="020B0604020202020204" charset="0"/>
      <p:regular r:id="rId18"/>
    </p:embeddedFont>
    <p:embeddedFont>
      <p:font typeface="Nobile Bold" panose="020B0604020202020204" charset="0"/>
      <p:regular r:id="rId19"/>
    </p:embeddedFont>
    <p:embeddedFont>
      <p:font typeface="Wide Latin" panose="020A0A07050505020404" pitchFamily="18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C323C7-0A81-423B-B44D-540782F319D1}" v="11" dt="2026-10-06T09:38:19.8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nav yamjala" userId="5408002b35b1f9fd" providerId="LiveId" clId="{C52D2667-28D6-413C-A424-66C12D7AB601}"/>
    <pc:docChg chg="modSld">
      <pc:chgData name="abhinav yamjala" userId="5408002b35b1f9fd" providerId="LiveId" clId="{C52D2667-28D6-413C-A424-66C12D7AB601}" dt="2026-10-07T02:56:08.607" v="19" actId="14100"/>
      <pc:docMkLst>
        <pc:docMk/>
      </pc:docMkLst>
      <pc:sldChg chg="modTransition">
        <pc:chgData name="abhinav yamjala" userId="5408002b35b1f9fd" providerId="LiveId" clId="{C52D2667-28D6-413C-A424-66C12D7AB601}" dt="2026-10-06T09:26:51.677" v="0"/>
        <pc:sldMkLst>
          <pc:docMk/>
          <pc:sldMk cId="0" sldId="256"/>
        </pc:sldMkLst>
      </pc:sldChg>
      <pc:sldChg chg="modTransition">
        <pc:chgData name="abhinav yamjala" userId="5408002b35b1f9fd" providerId="LiveId" clId="{C52D2667-28D6-413C-A424-66C12D7AB601}" dt="2026-10-06T09:27:05.167" v="1"/>
        <pc:sldMkLst>
          <pc:docMk/>
          <pc:sldMk cId="0" sldId="257"/>
        </pc:sldMkLst>
      </pc:sldChg>
      <pc:sldChg chg="modTransition">
        <pc:chgData name="abhinav yamjala" userId="5408002b35b1f9fd" providerId="LiveId" clId="{C52D2667-28D6-413C-A424-66C12D7AB601}" dt="2026-10-06T09:27:12.257" v="2"/>
        <pc:sldMkLst>
          <pc:docMk/>
          <pc:sldMk cId="0" sldId="258"/>
        </pc:sldMkLst>
      </pc:sldChg>
      <pc:sldChg chg="modTransition">
        <pc:chgData name="abhinav yamjala" userId="5408002b35b1f9fd" providerId="LiveId" clId="{C52D2667-28D6-413C-A424-66C12D7AB601}" dt="2026-10-06T09:27:22.755" v="3"/>
        <pc:sldMkLst>
          <pc:docMk/>
          <pc:sldMk cId="0" sldId="259"/>
        </pc:sldMkLst>
      </pc:sldChg>
      <pc:sldChg chg="modTransition">
        <pc:chgData name="abhinav yamjala" userId="5408002b35b1f9fd" providerId="LiveId" clId="{C52D2667-28D6-413C-A424-66C12D7AB601}" dt="2026-10-06T09:27:32.128" v="4"/>
        <pc:sldMkLst>
          <pc:docMk/>
          <pc:sldMk cId="0" sldId="260"/>
        </pc:sldMkLst>
      </pc:sldChg>
      <pc:sldChg chg="modTransition">
        <pc:chgData name="abhinav yamjala" userId="5408002b35b1f9fd" providerId="LiveId" clId="{C52D2667-28D6-413C-A424-66C12D7AB601}" dt="2026-10-06T09:27:38.237" v="5"/>
        <pc:sldMkLst>
          <pc:docMk/>
          <pc:sldMk cId="0" sldId="261"/>
        </pc:sldMkLst>
      </pc:sldChg>
      <pc:sldChg chg="modTransition">
        <pc:chgData name="abhinav yamjala" userId="5408002b35b1f9fd" providerId="LiveId" clId="{C52D2667-28D6-413C-A424-66C12D7AB601}" dt="2026-10-06T09:38:13.358" v="9"/>
        <pc:sldMkLst>
          <pc:docMk/>
          <pc:sldMk cId="0" sldId="262"/>
        </pc:sldMkLst>
      </pc:sldChg>
      <pc:sldChg chg="modTransition">
        <pc:chgData name="abhinav yamjala" userId="5408002b35b1f9fd" providerId="LiveId" clId="{C52D2667-28D6-413C-A424-66C12D7AB601}" dt="2026-10-06T09:27:43.369" v="6"/>
        <pc:sldMkLst>
          <pc:docMk/>
          <pc:sldMk cId="0" sldId="263"/>
        </pc:sldMkLst>
      </pc:sldChg>
      <pc:sldChg chg="modTransition">
        <pc:chgData name="abhinav yamjala" userId="5408002b35b1f9fd" providerId="LiveId" clId="{C52D2667-28D6-413C-A424-66C12D7AB601}" dt="2026-10-06T09:38:19.843" v="10"/>
        <pc:sldMkLst>
          <pc:docMk/>
          <pc:sldMk cId="0" sldId="264"/>
        </pc:sldMkLst>
      </pc:sldChg>
      <pc:sldChg chg="modSp mod modTransition">
        <pc:chgData name="abhinav yamjala" userId="5408002b35b1f9fd" providerId="LiveId" clId="{C52D2667-28D6-413C-A424-66C12D7AB601}" dt="2026-10-07T02:56:08.607" v="19" actId="14100"/>
        <pc:sldMkLst>
          <pc:docMk/>
          <pc:sldMk cId="0" sldId="265"/>
        </pc:sldMkLst>
        <pc:spChg chg="mod">
          <ac:chgData name="abhinav yamjala" userId="5408002b35b1f9fd" providerId="LiveId" clId="{C52D2667-28D6-413C-A424-66C12D7AB601}" dt="2026-10-07T02:55:49.453" v="18" actId="14100"/>
          <ac:spMkLst>
            <pc:docMk/>
            <pc:sldMk cId="0" sldId="265"/>
            <ac:spMk id="3" creationId="{00000000-0000-0000-0000-000000000000}"/>
          </ac:spMkLst>
        </pc:spChg>
        <pc:picChg chg="mod">
          <ac:chgData name="abhinav yamjala" userId="5408002b35b1f9fd" providerId="LiveId" clId="{C52D2667-28D6-413C-A424-66C12D7AB601}" dt="2026-10-07T02:56:08.607" v="19" actId="14100"/>
          <ac:picMkLst>
            <pc:docMk/>
            <pc:sldMk cId="0" sldId="265"/>
            <ac:picMk id="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14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jpe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sv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24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jpeg"/><Relationship Id="rId7" Type="http://schemas.openxmlformats.org/officeDocument/2006/relationships/image" Target="../media/image4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svg"/><Relationship Id="rId5" Type="http://schemas.openxmlformats.org/officeDocument/2006/relationships/image" Target="../media/image39.svg"/><Relationship Id="rId4" Type="http://schemas.openxmlformats.org/officeDocument/2006/relationships/image" Target="../media/image38.svg"/><Relationship Id="rId9" Type="http://schemas.openxmlformats.org/officeDocument/2006/relationships/image" Target="../media/image43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e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573088"/>
            <a:ext cx="1705825" cy="287139"/>
          </a:xfrm>
          <a:prstGeom prst="roundRect">
            <a:avLst>
              <a:gd name="adj" fmla="val 22118"/>
            </a:avLst>
          </a:prstGeom>
          <a:solidFill>
            <a:srgbClr val="D2DDF9"/>
          </a:solidFill>
          <a:ln/>
        </p:spPr>
      </p:sp>
      <p:sp>
        <p:nvSpPr>
          <p:cNvPr id="4" name="Text 1"/>
          <p:cNvSpPr/>
          <p:nvPr/>
        </p:nvSpPr>
        <p:spPr>
          <a:xfrm>
            <a:off x="5346765" y="629741"/>
            <a:ext cx="208860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CAPSTONE PROJECT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93583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E5AA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Airport Flight Board</a:t>
            </a: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and Scheduler</a:t>
            </a:r>
            <a:endParaRPr lang="en-US" sz="3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400598"/>
            <a:ext cx="6296860" cy="14347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49364" y="2615009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Team :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549364" y="3023691"/>
            <a:ext cx="5766449" cy="597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1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Names :</a:t>
            </a: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1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K Vinay - 2620040050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Y Abhinav – 2620030232                                                                                 SECTION-</a:t>
            </a:r>
            <a:r>
              <a:rPr lang="en-US" sz="16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2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652" y="5075634"/>
            <a:ext cx="1782321" cy="1782366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565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648049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1D4ED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Abstract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661475" y="3331567"/>
            <a:ext cx="10868745" cy="91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</a:t>
            </a:r>
            <a:r>
              <a:rPr lang="en-US" sz="12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Airport Flight Board and Scheduler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is a comprehensive system designed to manage and organize flight information efficiently. It displays critical flight details including flight number, airline name, source and destination airports, departure and arrival times, and real-time flight status. The system enables users to search for flights quickly and easily by flight number, airline, or airport. By organizing all flight information in a clear and structured manner, it ensures passengers and staff have instant access to accurate, up-to-date flight data whenever needed.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8204" y="5084465"/>
            <a:ext cx="1773491" cy="1773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53145"/>
            <a:ext cx="783213" cy="183952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54D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4101" y="589459"/>
            <a:ext cx="1247545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FLIGHT DATA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1505210" y="553145"/>
            <a:ext cx="1046732" cy="183952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54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577836" y="589459"/>
            <a:ext cx="1511064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AIRPORT SYSTEMS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61475" y="768052"/>
            <a:ext cx="6296860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E5AA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Flight Information</a:t>
            </a:r>
            <a:r>
              <a:rPr lang="en-US" sz="23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Details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661475" y="1262658"/>
            <a:ext cx="6906444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Each flight record stores the following key data fields: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61475" y="1508720"/>
            <a:ext cx="3109636" cy="1090116"/>
          </a:xfrm>
          <a:prstGeom prst="roundRect">
            <a:avLst>
              <a:gd name="adj" fmla="val 4665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8869" y="1636117"/>
            <a:ext cx="363231" cy="363240"/>
          </a:xfrm>
          <a:prstGeom prst="ellipse">
            <a:avLst/>
          </a:prstGeom>
          <a:solidFill>
            <a:srgbClr val="1B54D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8779" y="1736030"/>
            <a:ext cx="163409" cy="16341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8869" y="2076847"/>
            <a:ext cx="285484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Flight Number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88869" y="2312591"/>
            <a:ext cx="285484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Unique identifier for each flight in the system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848599" y="1508720"/>
            <a:ext cx="3109735" cy="1090116"/>
          </a:xfrm>
          <a:prstGeom prst="roundRect">
            <a:avLst>
              <a:gd name="adj" fmla="val 4665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975993" y="1636117"/>
            <a:ext cx="363231" cy="363240"/>
          </a:xfrm>
          <a:prstGeom prst="ellipse">
            <a:avLst/>
          </a:prstGeom>
          <a:solidFill>
            <a:srgbClr val="1B54D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5904" y="1736030"/>
            <a:ext cx="163409" cy="16341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75993" y="2076847"/>
            <a:ext cx="2854948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Airline Name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3975993" y="2312591"/>
            <a:ext cx="2854948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operating airline for the scheduled route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61475" y="2676327"/>
            <a:ext cx="3109636" cy="1090116"/>
          </a:xfrm>
          <a:prstGeom prst="roundRect">
            <a:avLst>
              <a:gd name="adj" fmla="val 4665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88869" y="2803723"/>
            <a:ext cx="363231" cy="363240"/>
          </a:xfrm>
          <a:prstGeom prst="ellipse">
            <a:avLst/>
          </a:prstGeom>
          <a:solidFill>
            <a:srgbClr val="1B54D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8779" y="2903637"/>
            <a:ext cx="163409" cy="16341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88869" y="3244453"/>
            <a:ext cx="285484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Source &amp; Destination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788869" y="3480197"/>
            <a:ext cx="285484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Departure and arrival airport codes and names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848599" y="2676327"/>
            <a:ext cx="3109735" cy="1090116"/>
          </a:xfrm>
          <a:prstGeom prst="roundRect">
            <a:avLst>
              <a:gd name="adj" fmla="val 4665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975993" y="2803723"/>
            <a:ext cx="363231" cy="363240"/>
          </a:xfrm>
          <a:prstGeom prst="ellipse">
            <a:avLst/>
          </a:prstGeom>
          <a:solidFill>
            <a:srgbClr val="1B54D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5904" y="2903637"/>
            <a:ext cx="163409" cy="16341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75993" y="3244453"/>
            <a:ext cx="2854948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Times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3975993" y="3480197"/>
            <a:ext cx="2854948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Scheduled departure and arrival timestamps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61475" y="3843933"/>
            <a:ext cx="6296860" cy="1090116"/>
          </a:xfrm>
          <a:prstGeom prst="roundRect">
            <a:avLst>
              <a:gd name="adj" fmla="val 4665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788869" y="3971330"/>
            <a:ext cx="363231" cy="363240"/>
          </a:xfrm>
          <a:prstGeom prst="ellipse">
            <a:avLst/>
          </a:prstGeom>
          <a:solidFill>
            <a:srgbClr val="1B54D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8779" y="4071243"/>
            <a:ext cx="163409" cy="16341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88869" y="4412059"/>
            <a:ext cx="604207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Flight Status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788869" y="4647803"/>
            <a:ext cx="6042072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Current state: Scheduled, Boarding, Delayed, or Cancelled</a:t>
            </a:r>
            <a:endParaRPr lang="en-US" sz="95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475" y="5021263"/>
            <a:ext cx="1283462" cy="12834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66341"/>
            <a:ext cx="1496082" cy="224334"/>
          </a:xfrm>
          <a:prstGeom prst="roundRect">
            <a:avLst>
              <a:gd name="adj" fmla="val 22118"/>
            </a:avLst>
          </a:prstGeom>
          <a:solidFill>
            <a:srgbClr val="D2DDF9"/>
          </a:solidFill>
          <a:ln/>
        </p:spPr>
      </p:sp>
      <p:sp>
        <p:nvSpPr>
          <p:cNvPr id="4" name="Text 1"/>
          <p:cNvSpPr/>
          <p:nvPr/>
        </p:nvSpPr>
        <p:spPr>
          <a:xfrm>
            <a:off x="750075" y="610592"/>
            <a:ext cx="1928467" cy="13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AIRPORT OPERATIONS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2231374" y="566341"/>
            <a:ext cx="928863" cy="224334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54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319974" y="610592"/>
            <a:ext cx="1361247" cy="13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LIVE STATUS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61475" y="836811"/>
            <a:ext cx="6296860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1E4E8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Flight Board</a:t>
            </a:r>
            <a:r>
              <a:rPr lang="en-US" sz="2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Display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661475" y="1471315"/>
            <a:ext cx="6906444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Unified flight information for departures, arrivals, routes, and real-time updates.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941215"/>
            <a:ext cx="2968352" cy="11000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4356" y="2107902"/>
            <a:ext cx="2558788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📤</a:t>
            </a:r>
            <a:r>
              <a:rPr lang="en-US" sz="14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</a:t>
            </a:r>
            <a:r>
              <a:rPr lang="en-US" sz="1450" dirty="0">
                <a:solidFill>
                  <a:srgbClr val="1E4E8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Departures &amp; Arrivals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904356" y="2453878"/>
            <a:ext cx="2558788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Shows all upcoming departures and incoming arrivals in a unified view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156545"/>
            <a:ext cx="2968352" cy="11000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4356" y="3323233"/>
            <a:ext cx="2558788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⏰</a:t>
            </a:r>
            <a:r>
              <a:rPr lang="en-US" sz="14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</a:t>
            </a:r>
            <a:r>
              <a:rPr lang="en-US" sz="1450" dirty="0">
                <a:solidFill>
                  <a:srgbClr val="1E4E8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Timings &amp; Routes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904356" y="3669209"/>
            <a:ext cx="2558788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Displays flight timings alongside source and destination airports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96332" y="1941215"/>
            <a:ext cx="2968352" cy="110003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239213" y="2107902"/>
            <a:ext cx="2558788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📍</a:t>
            </a:r>
            <a:r>
              <a:rPr lang="en-US" sz="14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</a:t>
            </a:r>
            <a:r>
              <a:rPr lang="en-US" sz="1450" dirty="0">
                <a:solidFill>
                  <a:srgbClr val="1E4E8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Airport Info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4239213" y="2453878"/>
            <a:ext cx="2558788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Clearly shows origin and destination airports for every listed flight</a:t>
            </a:r>
            <a:endParaRPr lang="en-US" sz="11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96332" y="3156545"/>
            <a:ext cx="2968352" cy="131038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239213" y="3323233"/>
            <a:ext cx="2558788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🔄</a:t>
            </a:r>
            <a:r>
              <a:rPr lang="en-US" sz="14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</a:t>
            </a:r>
            <a:r>
              <a:rPr lang="en-US" sz="1450" dirty="0">
                <a:solidFill>
                  <a:srgbClr val="1E4E8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Live Status Updates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4239213" y="3669209"/>
            <a:ext cx="2558788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Reflects real-time changes — Scheduled, Boarding, Delayed, or Cancelled</a:t>
            </a:r>
            <a:endParaRPr lang="en-US" sz="11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7" y="5292824"/>
            <a:ext cx="1565137" cy="15651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1395"/>
            <a:ext cx="1076100" cy="161429"/>
          </a:xfrm>
          <a:prstGeom prst="roundRect">
            <a:avLst>
              <a:gd name="adj" fmla="val 22130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725172" y="553244"/>
            <a:ext cx="1558291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AIRPORT OPERATIONS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1790655" y="521395"/>
            <a:ext cx="626055" cy="161429"/>
          </a:xfrm>
          <a:prstGeom prst="roundRect">
            <a:avLst>
              <a:gd name="adj" fmla="val 22130"/>
            </a:avLst>
          </a:prstGeom>
          <a:noFill/>
          <a:ln w="6350">
            <a:solidFill>
              <a:srgbClr val="1B5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54352" y="553244"/>
            <a:ext cx="1108246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WORKFLOW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661475" y="706735"/>
            <a:ext cx="1086874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1F4E7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Flight Scheduler Functions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661475" y="1128613"/>
            <a:ext cx="11478330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Core actions for creating, managing, and updating flight schedules in real time.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96107"/>
            <a:ext cx="5304697" cy="199052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947546" y="2826351"/>
            <a:ext cx="800071" cy="30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Change Status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939238" y="2826351"/>
            <a:ext cx="800071" cy="30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Remove Flight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936409" y="2826351"/>
            <a:ext cx="800071" cy="30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Update Schedule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933580" y="2903415"/>
            <a:ext cx="800071" cy="154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Set Times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08832" y="2903415"/>
            <a:ext cx="800071" cy="154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Add Flight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231873" y="1396107"/>
            <a:ext cx="212620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231873" y="1563985"/>
            <a:ext cx="5304697" cy="1270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6" name="Text 13"/>
          <p:cNvSpPr/>
          <p:nvPr/>
        </p:nvSpPr>
        <p:spPr>
          <a:xfrm>
            <a:off x="6231873" y="1642467"/>
            <a:ext cx="5304697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➕</a:t>
            </a:r>
            <a:r>
              <a:rPr lang="en-US" sz="1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</a:t>
            </a:r>
            <a:r>
              <a:rPr lang="en-US" sz="1000" dirty="0">
                <a:solidFill>
                  <a:srgbClr val="1F4E7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Add a New Flight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31873" y="1868388"/>
            <a:ext cx="5304697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Register a new flight with all required details into the system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231873" y="2140744"/>
            <a:ext cx="212620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231873" y="2308622"/>
            <a:ext cx="5304697" cy="1270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0" name="Text 17"/>
          <p:cNvSpPr/>
          <p:nvPr/>
        </p:nvSpPr>
        <p:spPr>
          <a:xfrm>
            <a:off x="6231873" y="2387104"/>
            <a:ext cx="5304697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⏱️</a:t>
            </a:r>
            <a:r>
              <a:rPr lang="en-US" sz="1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</a:t>
            </a:r>
            <a:r>
              <a:rPr lang="en-US" sz="1000" dirty="0">
                <a:solidFill>
                  <a:srgbClr val="1F4E7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Set Departure &amp; Arrival Times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31873" y="2613025"/>
            <a:ext cx="5304697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Assign precise scheduled times for each flight leg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231873" y="2885380"/>
            <a:ext cx="212620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231873" y="3053259"/>
            <a:ext cx="5304697" cy="1270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4" name="Text 21"/>
          <p:cNvSpPr/>
          <p:nvPr/>
        </p:nvSpPr>
        <p:spPr>
          <a:xfrm>
            <a:off x="6231873" y="3131741"/>
            <a:ext cx="5304697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🔄</a:t>
            </a:r>
            <a:r>
              <a:rPr lang="en-US" sz="1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</a:t>
            </a:r>
            <a:r>
              <a:rPr lang="en-US" sz="1000" dirty="0">
                <a:solidFill>
                  <a:srgbClr val="1F4E7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Update Flight Schedules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231873" y="3357662"/>
            <a:ext cx="5304697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Modify existing flight data as plans change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231873" y="3630017"/>
            <a:ext cx="212620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231873" y="3797895"/>
            <a:ext cx="5304697" cy="1270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8" name="Text 25"/>
          <p:cNvSpPr/>
          <p:nvPr/>
        </p:nvSpPr>
        <p:spPr>
          <a:xfrm>
            <a:off x="6231873" y="3876377"/>
            <a:ext cx="5304697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❌</a:t>
            </a:r>
            <a:r>
              <a:rPr lang="en-US" sz="1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</a:t>
            </a:r>
            <a:r>
              <a:rPr lang="en-US" sz="1000" dirty="0">
                <a:solidFill>
                  <a:srgbClr val="1F4E7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Remove a Flight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231873" y="4102298"/>
            <a:ext cx="5304697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Delete cancelled or completed flights from the active schedule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231873" y="4374654"/>
            <a:ext cx="212620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05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231873" y="4542532"/>
            <a:ext cx="5304697" cy="1270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32" name="Text 29"/>
          <p:cNvSpPr/>
          <p:nvPr/>
        </p:nvSpPr>
        <p:spPr>
          <a:xfrm>
            <a:off x="6231873" y="4621014"/>
            <a:ext cx="5304697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🔔</a:t>
            </a:r>
            <a:r>
              <a:rPr lang="en-US" sz="1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</a:t>
            </a:r>
            <a:r>
              <a:rPr lang="en-US" sz="1000" dirty="0">
                <a:solidFill>
                  <a:srgbClr val="1F4E7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Change Status in Real-Time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231873" y="4846935"/>
            <a:ext cx="5304697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Push live status updates instantly to the flight board</a:t>
            </a:r>
            <a:endParaRPr lang="en-US" sz="800" dirty="0"/>
          </a:p>
        </p:txBody>
      </p:sp>
      <p:pic>
        <p:nvPicPr>
          <p:cNvPr id="36" name="Image 5" descr="preencoded.png">
            <a:extLst>
              <a:ext uri="{FF2B5EF4-FFF2-40B4-BE49-F238E27FC236}">
                <a16:creationId xmlns:a16="http://schemas.microsoft.com/office/drawing/2014/main" id="{48B0C076-18A7-2F47-FD7B-CF391E8D0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6863" y="5292824"/>
            <a:ext cx="1565137" cy="1565176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4016"/>
            <a:ext cx="1161723" cy="237827"/>
          </a:xfrm>
          <a:prstGeom prst="roundRect">
            <a:avLst>
              <a:gd name="adj" fmla="val 22115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755333" y="590947"/>
            <a:ext cx="1583591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FLIGHT SEARCH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901381" y="544016"/>
            <a:ext cx="877866" cy="237827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1B5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95239" y="590947"/>
            <a:ext cx="1299733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857429" y="544016"/>
            <a:ext cx="916064" cy="237827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1B54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51287" y="590947"/>
            <a:ext cx="1337931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AIRPORT UI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61475" y="833636"/>
            <a:ext cx="6296860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1D4ED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Flight Search</a:t>
            </a:r>
            <a:r>
              <a:rPr lang="en-US" sz="30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Feature</a:t>
            </a:r>
            <a:endParaRPr lang="en-US" sz="3050" dirty="0"/>
          </a:p>
        </p:txBody>
      </p:sp>
      <p:sp>
        <p:nvSpPr>
          <p:cNvPr id="9" name="Text 7"/>
          <p:cNvSpPr/>
          <p:nvPr/>
        </p:nvSpPr>
        <p:spPr>
          <a:xfrm>
            <a:off x="661475" y="1517154"/>
            <a:ext cx="6296860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Find flights quickly with one simple search field that keeps results clear, fast, and easy to scan.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20702"/>
            <a:ext cx="2012503" cy="2525613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3818" y="2261493"/>
            <a:ext cx="187816" cy="1878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36988" y="2746772"/>
            <a:ext cx="1661476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D4ED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Multi-Field Search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36988" y="3313609"/>
            <a:ext cx="1661476" cy="91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Search by </a:t>
            </a:r>
            <a:r>
              <a:rPr lang="en-US" sz="12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flight number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2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airline name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or </a:t>
            </a:r>
            <a:r>
              <a:rPr lang="en-US" sz="12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airport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all from a single input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03554" y="2120702"/>
            <a:ext cx="2012602" cy="2525613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5897" y="2261493"/>
            <a:ext cx="187816" cy="18782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979068" y="2746772"/>
            <a:ext cx="166157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563EB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Instant Results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2979068" y="3069034"/>
            <a:ext cx="1661575" cy="91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Matching flight details are displayed immediately, with no delays</a:t>
            </a:r>
            <a:endParaRPr lang="en-US" sz="12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45733" y="2120702"/>
            <a:ext cx="2012503" cy="2525613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58076" y="2261493"/>
            <a:ext cx="187816" cy="18782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121246" y="2746772"/>
            <a:ext cx="1661476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F766E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Example in Action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5121246" y="3313609"/>
            <a:ext cx="1661476" cy="11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Search </a:t>
            </a:r>
            <a:r>
              <a:rPr lang="en-US" sz="12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"FL101"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→ instantly shows airline, route, times, and current status for that flight</a:t>
            </a:r>
            <a:endParaRPr lang="en-US" sz="1200" dirty="0"/>
          </a:p>
        </p:txBody>
      </p:sp>
      <p:pic>
        <p:nvPicPr>
          <p:cNvPr id="30" name="Search Illustration" descr="Flight search illustration showing a search bar with FL101 and a result c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000" y="700000"/>
            <a:ext cx="4200000" cy="4400000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70221" y="5336183"/>
            <a:ext cx="1521779" cy="15218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4016"/>
            <a:ext cx="1161723" cy="237827"/>
          </a:xfrm>
          <a:prstGeom prst="roundRect">
            <a:avLst>
              <a:gd name="adj" fmla="val 22115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755333" y="590947"/>
            <a:ext cx="1583591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JAVA CONCEPTS</a:t>
            </a:r>
            <a:endParaRPr lang="en-US" sz="950" dirty="0"/>
          </a:p>
        </p:txBody>
      </p:sp>
      <p:sp>
        <p:nvSpPr>
          <p:cNvPr id="101" name="Title"/>
          <p:cNvSpPr txBox="1"/>
          <p:nvPr/>
        </p:nvSpPr>
        <p:spPr>
          <a:xfrm>
            <a:off x="661475" y="833636"/>
            <a:ext cx="10869050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D4ED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Java Concepts</a:t>
            </a:r>
            <a:r>
              <a:rPr lang="en-US" sz="26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Used in the Airport Flight Scheduler</a:t>
            </a:r>
          </a:p>
        </p:txBody>
      </p:sp>
      <p:sp>
        <p:nvSpPr>
          <p:cNvPr id="102" name="Card 1"/>
          <p:cNvSpPr/>
          <p:nvPr/>
        </p:nvSpPr>
        <p:spPr>
          <a:xfrm>
            <a:off x="661475" y="1650000"/>
            <a:ext cx="3469683" cy="7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2DDF9"/>
            </a:solidFill>
          </a:ln>
          <a:effectLst>
            <a:outerShdw blurRad="76200" dist="25400" dir="5400000" algn="t" rotWithShape="0">
              <a:srgbClr val="1D4ED8">
                <a:alpha val="10000"/>
              </a:srgbClr>
            </a:outerShdw>
          </a:effectLst>
        </p:spPr>
      </p:sp>
      <p:sp>
        <p:nvSpPr>
          <p:cNvPr id="103" name="Icon circle 1"/>
          <p:cNvSpPr/>
          <p:nvPr/>
        </p:nvSpPr>
        <p:spPr>
          <a:xfrm>
            <a:off x="811475" y="1810000"/>
            <a:ext cx="440000" cy="440000"/>
          </a:xfrm>
          <a:prstGeom prst="ellipse">
            <a:avLst/>
          </a:prstGeom>
          <a:solidFill>
            <a:srgbClr val="D2DDF9"/>
          </a:solidFill>
          <a:ln>
            <a:noFill/>
          </a:ln>
        </p:spPr>
      </p:sp>
      <p:pic>
        <p:nvPicPr>
          <p:cNvPr id="104" name="Icon 1" descr="box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75" y="1910000"/>
            <a:ext cx="240000" cy="240000"/>
          </a:xfrm>
          <a:prstGeom prst="rect">
            <a:avLst/>
          </a:prstGeom>
        </p:spPr>
      </p:pic>
      <p:sp>
        <p:nvSpPr>
          <p:cNvPr id="105" name="Label 1"/>
          <p:cNvSpPr txBox="1"/>
          <p:nvPr/>
        </p:nvSpPr>
        <p:spPr>
          <a:xfrm>
            <a:off x="1361475" y="1650000"/>
            <a:ext cx="2729683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B27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Class &amp; </a:t>
            </a:r>
            <a:r>
              <a:rPr lang="en-US" sz="1400" dirty="0">
                <a:solidFill>
                  <a:srgbClr val="1B1B27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r>
              <a:rPr lang="en-US" sz="1400" dirty="0">
                <a:solidFill>
                  <a:srgbClr val="1B1B27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Method</a:t>
            </a:r>
          </a:p>
        </p:txBody>
      </p:sp>
      <p:sp>
        <p:nvSpPr>
          <p:cNvPr id="106" name="Card 2"/>
          <p:cNvSpPr/>
          <p:nvPr/>
        </p:nvSpPr>
        <p:spPr>
          <a:xfrm>
            <a:off x="661475" y="2580000"/>
            <a:ext cx="3469683" cy="7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2DDF9"/>
            </a:solidFill>
          </a:ln>
          <a:effectLst>
            <a:outerShdw blurRad="76200" dist="25400" dir="5400000" algn="t" rotWithShape="0">
              <a:srgbClr val="1D4ED8">
                <a:alpha val="10000"/>
              </a:srgbClr>
            </a:outerShdw>
          </a:effectLst>
        </p:spPr>
      </p:sp>
      <p:sp>
        <p:nvSpPr>
          <p:cNvPr id="107" name="Icon circle 2"/>
          <p:cNvSpPr/>
          <p:nvPr/>
        </p:nvSpPr>
        <p:spPr>
          <a:xfrm>
            <a:off x="811475" y="2740000"/>
            <a:ext cx="440000" cy="440000"/>
          </a:xfrm>
          <a:prstGeom prst="ellipse">
            <a:avLst/>
          </a:prstGeom>
          <a:solidFill>
            <a:srgbClr val="D2DDF9"/>
          </a:solidFill>
          <a:ln>
            <a:noFill/>
          </a:ln>
        </p:spPr>
      </p:sp>
      <p:pic>
        <p:nvPicPr>
          <p:cNvPr id="108" name="Icon 2" descr="d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75" y="2840000"/>
            <a:ext cx="240000" cy="240000"/>
          </a:xfrm>
          <a:prstGeom prst="rect">
            <a:avLst/>
          </a:prstGeom>
        </p:spPr>
      </p:pic>
      <p:sp>
        <p:nvSpPr>
          <p:cNvPr id="109" name="Label 2"/>
          <p:cNvSpPr txBox="1"/>
          <p:nvPr/>
        </p:nvSpPr>
        <p:spPr>
          <a:xfrm>
            <a:off x="1361475" y="2580000"/>
            <a:ext cx="2729683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B27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Variables &amp; Data Types</a:t>
            </a:r>
          </a:p>
        </p:txBody>
      </p:sp>
      <p:sp>
        <p:nvSpPr>
          <p:cNvPr id="110" name="Card 3"/>
          <p:cNvSpPr/>
          <p:nvPr/>
        </p:nvSpPr>
        <p:spPr>
          <a:xfrm>
            <a:off x="661475" y="3510000"/>
            <a:ext cx="3469683" cy="7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2DDF9"/>
            </a:solidFill>
          </a:ln>
          <a:effectLst>
            <a:outerShdw blurRad="76200" dist="25400" dir="5400000" algn="t" rotWithShape="0">
              <a:srgbClr val="1D4ED8">
                <a:alpha val="10000"/>
              </a:srgbClr>
            </a:outerShdw>
          </a:effectLst>
        </p:spPr>
      </p:sp>
      <p:sp>
        <p:nvSpPr>
          <p:cNvPr id="111" name="Icon circle 3"/>
          <p:cNvSpPr/>
          <p:nvPr/>
        </p:nvSpPr>
        <p:spPr>
          <a:xfrm>
            <a:off x="811475" y="3670000"/>
            <a:ext cx="440000" cy="440000"/>
          </a:xfrm>
          <a:prstGeom prst="ellipse">
            <a:avLst/>
          </a:prstGeom>
          <a:solidFill>
            <a:srgbClr val="D2DDF9"/>
          </a:solidFill>
          <a:ln>
            <a:noFill/>
          </a:ln>
        </p:spPr>
      </p:sp>
      <p:pic>
        <p:nvPicPr>
          <p:cNvPr id="112" name="Icon 3" descr="cod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475" y="3770000"/>
            <a:ext cx="240000" cy="240000"/>
          </a:xfrm>
          <a:prstGeom prst="rect">
            <a:avLst/>
          </a:prstGeom>
        </p:spPr>
      </p:pic>
      <p:sp>
        <p:nvSpPr>
          <p:cNvPr id="113" name="Label 3"/>
          <p:cNvSpPr txBox="1"/>
          <p:nvPr/>
        </p:nvSpPr>
        <p:spPr>
          <a:xfrm>
            <a:off x="1361475" y="3510000"/>
            <a:ext cx="2729683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B27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Methods &amp; Method Calling</a:t>
            </a:r>
          </a:p>
        </p:txBody>
      </p:sp>
      <p:sp>
        <p:nvSpPr>
          <p:cNvPr id="114" name="Card 4"/>
          <p:cNvSpPr/>
          <p:nvPr/>
        </p:nvSpPr>
        <p:spPr>
          <a:xfrm>
            <a:off x="661475" y="4440000"/>
            <a:ext cx="3469683" cy="7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2DDF9"/>
            </a:solidFill>
          </a:ln>
          <a:effectLst>
            <a:outerShdw blurRad="76200" dist="25400" dir="5400000" algn="t" rotWithShape="0">
              <a:srgbClr val="1D4ED8">
                <a:alpha val="10000"/>
              </a:srgbClr>
            </a:outerShdw>
          </a:effectLst>
        </p:spPr>
      </p:sp>
      <p:sp>
        <p:nvSpPr>
          <p:cNvPr id="115" name="Icon circle 4"/>
          <p:cNvSpPr/>
          <p:nvPr/>
        </p:nvSpPr>
        <p:spPr>
          <a:xfrm>
            <a:off x="811475" y="4600000"/>
            <a:ext cx="440000" cy="440000"/>
          </a:xfrm>
          <a:prstGeom prst="ellipse">
            <a:avLst/>
          </a:prstGeom>
          <a:solidFill>
            <a:srgbClr val="D2DDF9"/>
          </a:solidFill>
          <a:ln>
            <a:noFill/>
          </a:ln>
        </p:spPr>
      </p:sp>
      <p:pic>
        <p:nvPicPr>
          <p:cNvPr id="116" name="Icon 4" descr="kbd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475" y="4700000"/>
            <a:ext cx="240000" cy="240000"/>
          </a:xfrm>
          <a:prstGeom prst="rect">
            <a:avLst/>
          </a:prstGeom>
        </p:spPr>
      </p:pic>
      <p:sp>
        <p:nvSpPr>
          <p:cNvPr id="117" name="Label 4"/>
          <p:cNvSpPr txBox="1"/>
          <p:nvPr/>
        </p:nvSpPr>
        <p:spPr>
          <a:xfrm>
            <a:off x="1361475" y="4440000"/>
            <a:ext cx="2729683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B27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Scanner &amp; User Input</a:t>
            </a:r>
          </a:p>
        </p:txBody>
      </p:sp>
      <p:sp>
        <p:nvSpPr>
          <p:cNvPr id="118" name="Card 5"/>
          <p:cNvSpPr/>
          <p:nvPr/>
        </p:nvSpPr>
        <p:spPr>
          <a:xfrm>
            <a:off x="4361158" y="1650000"/>
            <a:ext cx="3469683" cy="7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2DDF9"/>
            </a:solidFill>
          </a:ln>
          <a:effectLst>
            <a:outerShdw blurRad="76200" dist="25400" dir="5400000" algn="t" rotWithShape="0">
              <a:srgbClr val="1D4ED8">
                <a:alpha val="10000"/>
              </a:srgbClr>
            </a:outerShdw>
          </a:effectLst>
        </p:spPr>
      </p:sp>
      <p:sp>
        <p:nvSpPr>
          <p:cNvPr id="119" name="Icon circle 5"/>
          <p:cNvSpPr/>
          <p:nvPr/>
        </p:nvSpPr>
        <p:spPr>
          <a:xfrm>
            <a:off x="4511158" y="1810000"/>
            <a:ext cx="440000" cy="440000"/>
          </a:xfrm>
          <a:prstGeom prst="ellipse">
            <a:avLst/>
          </a:prstGeom>
          <a:solidFill>
            <a:srgbClr val="D2DDF9"/>
          </a:solidFill>
          <a:ln>
            <a:noFill/>
          </a:ln>
        </p:spPr>
      </p:sp>
      <p:pic>
        <p:nvPicPr>
          <p:cNvPr id="120" name="Icon 5" descr="branch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1158" y="1910000"/>
            <a:ext cx="240000" cy="240000"/>
          </a:xfrm>
          <a:prstGeom prst="rect">
            <a:avLst/>
          </a:prstGeom>
        </p:spPr>
      </p:pic>
      <p:sp>
        <p:nvSpPr>
          <p:cNvPr id="121" name="Label 5"/>
          <p:cNvSpPr txBox="1"/>
          <p:nvPr/>
        </p:nvSpPr>
        <p:spPr>
          <a:xfrm>
            <a:off x="5061158" y="1650000"/>
            <a:ext cx="2729683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B27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1B1B27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Statements</a:t>
            </a:r>
          </a:p>
        </p:txBody>
      </p:sp>
      <p:sp>
        <p:nvSpPr>
          <p:cNvPr id="122" name="Card 6"/>
          <p:cNvSpPr/>
          <p:nvPr/>
        </p:nvSpPr>
        <p:spPr>
          <a:xfrm>
            <a:off x="4361158" y="2580000"/>
            <a:ext cx="3469683" cy="7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2DDF9"/>
            </a:solidFill>
          </a:ln>
          <a:effectLst>
            <a:outerShdw blurRad="76200" dist="25400" dir="5400000" algn="t" rotWithShape="0">
              <a:srgbClr val="1D4ED8">
                <a:alpha val="10000"/>
              </a:srgbClr>
            </a:outerShdw>
          </a:effectLst>
        </p:spPr>
      </p:sp>
      <p:sp>
        <p:nvSpPr>
          <p:cNvPr id="123" name="Icon circle 6"/>
          <p:cNvSpPr/>
          <p:nvPr/>
        </p:nvSpPr>
        <p:spPr>
          <a:xfrm>
            <a:off x="4511158" y="2740000"/>
            <a:ext cx="440000" cy="440000"/>
          </a:xfrm>
          <a:prstGeom prst="ellipse">
            <a:avLst/>
          </a:prstGeom>
          <a:solidFill>
            <a:srgbClr val="D2DDF9"/>
          </a:solidFill>
          <a:ln>
            <a:noFill/>
          </a:ln>
        </p:spPr>
      </p:sp>
      <p:pic>
        <p:nvPicPr>
          <p:cNvPr id="124" name="Icon 6" descr="toggl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1158" y="2840000"/>
            <a:ext cx="240000" cy="240000"/>
          </a:xfrm>
          <a:prstGeom prst="rect">
            <a:avLst/>
          </a:prstGeom>
        </p:spPr>
      </p:pic>
      <p:sp>
        <p:nvSpPr>
          <p:cNvPr id="125" name="Label 6"/>
          <p:cNvSpPr txBox="1"/>
          <p:nvPr/>
        </p:nvSpPr>
        <p:spPr>
          <a:xfrm>
            <a:off x="5061158" y="2580000"/>
            <a:ext cx="2729683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B27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switch-case</a:t>
            </a:r>
          </a:p>
        </p:txBody>
      </p:sp>
      <p:sp>
        <p:nvSpPr>
          <p:cNvPr id="126" name="Card 7"/>
          <p:cNvSpPr/>
          <p:nvPr/>
        </p:nvSpPr>
        <p:spPr>
          <a:xfrm>
            <a:off x="4361158" y="3510000"/>
            <a:ext cx="3469683" cy="7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2DDF9"/>
            </a:solidFill>
          </a:ln>
          <a:effectLst>
            <a:outerShdw blurRad="76200" dist="25400" dir="5400000" algn="t" rotWithShape="0">
              <a:srgbClr val="1D4ED8">
                <a:alpha val="10000"/>
              </a:srgbClr>
            </a:outerShdw>
          </a:effectLst>
        </p:spPr>
      </p:sp>
      <p:sp>
        <p:nvSpPr>
          <p:cNvPr id="127" name="Icon circle 7"/>
          <p:cNvSpPr/>
          <p:nvPr/>
        </p:nvSpPr>
        <p:spPr>
          <a:xfrm>
            <a:off x="4511158" y="3670000"/>
            <a:ext cx="440000" cy="440000"/>
          </a:xfrm>
          <a:prstGeom prst="ellipse">
            <a:avLst/>
          </a:prstGeom>
          <a:solidFill>
            <a:srgbClr val="D2DDF9"/>
          </a:solidFill>
          <a:ln>
            <a:noFill/>
          </a:ln>
        </p:spPr>
      </p:sp>
      <p:pic>
        <p:nvPicPr>
          <p:cNvPr id="128" name="Icon 7" descr="repeat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1158" y="3770000"/>
            <a:ext cx="240000" cy="240000"/>
          </a:xfrm>
          <a:prstGeom prst="rect">
            <a:avLst/>
          </a:prstGeom>
        </p:spPr>
      </p:pic>
      <p:sp>
        <p:nvSpPr>
          <p:cNvPr id="129" name="Label 7"/>
          <p:cNvSpPr txBox="1"/>
          <p:nvPr/>
        </p:nvSpPr>
        <p:spPr>
          <a:xfrm>
            <a:off x="5061158" y="3510000"/>
            <a:ext cx="2729683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B27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1B1B27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Loop</a:t>
            </a:r>
          </a:p>
        </p:txBody>
      </p:sp>
      <p:sp>
        <p:nvSpPr>
          <p:cNvPr id="130" name="Card 8"/>
          <p:cNvSpPr/>
          <p:nvPr/>
        </p:nvSpPr>
        <p:spPr>
          <a:xfrm>
            <a:off x="4361158" y="4440000"/>
            <a:ext cx="3469683" cy="7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2DDF9"/>
            </a:solidFill>
          </a:ln>
          <a:effectLst>
            <a:outerShdw blurRad="76200" dist="25400" dir="5400000" algn="t" rotWithShape="0">
              <a:srgbClr val="1D4ED8">
                <a:alpha val="10000"/>
              </a:srgbClr>
            </a:outerShdw>
          </a:effectLst>
        </p:spPr>
      </p:sp>
      <p:sp>
        <p:nvSpPr>
          <p:cNvPr id="131" name="Icon circle 8"/>
          <p:cNvSpPr/>
          <p:nvPr/>
        </p:nvSpPr>
        <p:spPr>
          <a:xfrm>
            <a:off x="4511158" y="4600000"/>
            <a:ext cx="440000" cy="440000"/>
          </a:xfrm>
          <a:prstGeom prst="ellipse">
            <a:avLst/>
          </a:prstGeom>
          <a:solidFill>
            <a:srgbClr val="D2DDF9"/>
          </a:solidFill>
          <a:ln>
            <a:noFill/>
          </a:ln>
        </p:spPr>
      </p:sp>
      <p:pic>
        <p:nvPicPr>
          <p:cNvPr id="132" name="Icon 8" descr="lines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1158" y="4700000"/>
            <a:ext cx="240000" cy="240000"/>
          </a:xfrm>
          <a:prstGeom prst="rect">
            <a:avLst/>
          </a:prstGeom>
        </p:spPr>
      </p:pic>
      <p:sp>
        <p:nvSpPr>
          <p:cNvPr id="133" name="Label 8"/>
          <p:cNvSpPr txBox="1"/>
          <p:nvPr/>
        </p:nvSpPr>
        <p:spPr>
          <a:xfrm>
            <a:off x="5061158" y="4440000"/>
            <a:ext cx="2729683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B27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One-Dimensional Arrays</a:t>
            </a:r>
          </a:p>
        </p:txBody>
      </p:sp>
      <p:sp>
        <p:nvSpPr>
          <p:cNvPr id="134" name="Card 9"/>
          <p:cNvSpPr/>
          <p:nvPr/>
        </p:nvSpPr>
        <p:spPr>
          <a:xfrm>
            <a:off x="8060841" y="1650000"/>
            <a:ext cx="3469683" cy="7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2DDF9"/>
            </a:solidFill>
          </a:ln>
          <a:effectLst>
            <a:outerShdw blurRad="76200" dist="25400" dir="5400000" algn="t" rotWithShape="0">
              <a:srgbClr val="1D4ED8">
                <a:alpha val="10000"/>
              </a:srgbClr>
            </a:outerShdw>
          </a:effectLst>
        </p:spPr>
      </p:sp>
      <p:sp>
        <p:nvSpPr>
          <p:cNvPr id="135" name="Icon circle 9"/>
          <p:cNvSpPr/>
          <p:nvPr/>
        </p:nvSpPr>
        <p:spPr>
          <a:xfrm>
            <a:off x="8210841" y="1810000"/>
            <a:ext cx="440000" cy="440000"/>
          </a:xfrm>
          <a:prstGeom prst="ellipse">
            <a:avLst/>
          </a:prstGeom>
          <a:solidFill>
            <a:srgbClr val="D2DDF9"/>
          </a:solidFill>
          <a:ln>
            <a:noFill/>
          </a:ln>
        </p:spPr>
      </p:sp>
      <p:pic>
        <p:nvPicPr>
          <p:cNvPr id="136" name="Icon 9" descr="grid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0841" y="1910000"/>
            <a:ext cx="240000" cy="240000"/>
          </a:xfrm>
          <a:prstGeom prst="rect">
            <a:avLst/>
          </a:prstGeom>
        </p:spPr>
      </p:pic>
      <p:sp>
        <p:nvSpPr>
          <p:cNvPr id="137" name="Label 9"/>
          <p:cNvSpPr txBox="1"/>
          <p:nvPr/>
        </p:nvSpPr>
        <p:spPr>
          <a:xfrm>
            <a:off x="8760841" y="1650000"/>
            <a:ext cx="2729683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B27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Two-Dimensional Arrays</a:t>
            </a:r>
          </a:p>
        </p:txBody>
      </p:sp>
      <p:sp>
        <p:nvSpPr>
          <p:cNvPr id="138" name="Card 10"/>
          <p:cNvSpPr/>
          <p:nvPr/>
        </p:nvSpPr>
        <p:spPr>
          <a:xfrm>
            <a:off x="8060841" y="2580000"/>
            <a:ext cx="3469683" cy="7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2DDF9"/>
            </a:solidFill>
          </a:ln>
          <a:effectLst>
            <a:outerShdw blurRad="76200" dist="25400" dir="5400000" algn="t" rotWithShape="0">
              <a:srgbClr val="1D4ED8">
                <a:alpha val="10000"/>
              </a:srgbClr>
            </a:outerShdw>
          </a:effectLst>
        </p:spPr>
      </p:sp>
      <p:sp>
        <p:nvSpPr>
          <p:cNvPr id="139" name="Icon circle 10"/>
          <p:cNvSpPr/>
          <p:nvPr/>
        </p:nvSpPr>
        <p:spPr>
          <a:xfrm>
            <a:off x="8210841" y="2740000"/>
            <a:ext cx="440000" cy="440000"/>
          </a:xfrm>
          <a:prstGeom prst="ellipse">
            <a:avLst/>
          </a:prstGeom>
          <a:solidFill>
            <a:srgbClr val="D2DDF9"/>
          </a:solidFill>
          <a:ln>
            <a:noFill/>
          </a:ln>
        </p:spPr>
      </p:sp>
      <p:pic>
        <p:nvPicPr>
          <p:cNvPr id="140" name="Icon 10" descr="type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0841" y="2840000"/>
            <a:ext cx="240000" cy="240000"/>
          </a:xfrm>
          <a:prstGeom prst="rect">
            <a:avLst/>
          </a:prstGeom>
        </p:spPr>
      </p:pic>
      <p:sp>
        <p:nvSpPr>
          <p:cNvPr id="141" name="Label 10"/>
          <p:cNvSpPr txBox="1"/>
          <p:nvPr/>
        </p:nvSpPr>
        <p:spPr>
          <a:xfrm>
            <a:off x="8760841" y="2580000"/>
            <a:ext cx="2729683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B27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String Handling (</a:t>
            </a:r>
            <a:r>
              <a:rPr lang="en-US" sz="1400" dirty="0">
                <a:solidFill>
                  <a:srgbClr val="1B1B27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.equals()</a:t>
            </a:r>
            <a:r>
              <a:rPr lang="en-US" sz="1400" dirty="0">
                <a:solidFill>
                  <a:srgbClr val="1B1B27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)</a:t>
            </a:r>
          </a:p>
        </p:txBody>
      </p:sp>
      <p:sp>
        <p:nvSpPr>
          <p:cNvPr id="142" name="Card 11"/>
          <p:cNvSpPr/>
          <p:nvPr/>
        </p:nvSpPr>
        <p:spPr>
          <a:xfrm>
            <a:off x="8060841" y="3510000"/>
            <a:ext cx="3469683" cy="7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2DDF9"/>
            </a:solidFill>
          </a:ln>
          <a:effectLst>
            <a:outerShdw blurRad="76200" dist="25400" dir="5400000" algn="t" rotWithShape="0">
              <a:srgbClr val="1D4ED8">
                <a:alpha val="10000"/>
              </a:srgbClr>
            </a:outerShdw>
          </a:effectLst>
        </p:spPr>
      </p:sp>
      <p:sp>
        <p:nvSpPr>
          <p:cNvPr id="143" name="Icon circle 11"/>
          <p:cNvSpPr/>
          <p:nvPr/>
        </p:nvSpPr>
        <p:spPr>
          <a:xfrm>
            <a:off x="8210841" y="3670000"/>
            <a:ext cx="440000" cy="440000"/>
          </a:xfrm>
          <a:prstGeom prst="ellipse">
            <a:avLst/>
          </a:prstGeom>
          <a:solidFill>
            <a:srgbClr val="D2DDF9"/>
          </a:solidFill>
          <a:ln>
            <a:noFill/>
          </a:ln>
        </p:spPr>
      </p:sp>
      <p:pic>
        <p:nvPicPr>
          <p:cNvPr id="144" name="Icon 11" descr="dice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10841" y="3770000"/>
            <a:ext cx="240000" cy="240000"/>
          </a:xfrm>
          <a:prstGeom prst="rect">
            <a:avLst/>
          </a:prstGeom>
        </p:spPr>
      </p:pic>
      <p:sp>
        <p:nvSpPr>
          <p:cNvPr id="145" name="Label 11"/>
          <p:cNvSpPr txBox="1"/>
          <p:nvPr/>
        </p:nvSpPr>
        <p:spPr>
          <a:xfrm>
            <a:off x="8760841" y="3510000"/>
            <a:ext cx="2729683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B27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Random Number Generation</a:t>
            </a:r>
          </a:p>
        </p:txBody>
      </p:sp>
      <p:sp>
        <p:nvSpPr>
          <p:cNvPr id="146" name="Card 12"/>
          <p:cNvSpPr/>
          <p:nvPr/>
        </p:nvSpPr>
        <p:spPr>
          <a:xfrm>
            <a:off x="8060841" y="4440000"/>
            <a:ext cx="3469683" cy="7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2DDF9"/>
            </a:solidFill>
          </a:ln>
          <a:effectLst>
            <a:outerShdw blurRad="76200" dist="25400" dir="5400000" algn="t" rotWithShape="0">
              <a:srgbClr val="1D4ED8">
                <a:alpha val="10000"/>
              </a:srgbClr>
            </a:outerShdw>
          </a:effectLst>
        </p:spPr>
      </p:sp>
      <p:sp>
        <p:nvSpPr>
          <p:cNvPr id="147" name="Icon circle 12"/>
          <p:cNvSpPr/>
          <p:nvPr/>
        </p:nvSpPr>
        <p:spPr>
          <a:xfrm>
            <a:off x="8210841" y="4600000"/>
            <a:ext cx="440000" cy="440000"/>
          </a:xfrm>
          <a:prstGeom prst="ellipse">
            <a:avLst/>
          </a:prstGeom>
          <a:solidFill>
            <a:srgbClr val="D2DDF9"/>
          </a:solidFill>
          <a:ln>
            <a:noFill/>
          </a:ln>
        </p:spPr>
      </p:sp>
      <p:pic>
        <p:nvPicPr>
          <p:cNvPr id="148" name="Icon 12" descr="menu 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10841" y="4700000"/>
            <a:ext cx="240000" cy="240000"/>
          </a:xfrm>
          <a:prstGeom prst="rect">
            <a:avLst/>
          </a:prstGeom>
        </p:spPr>
      </p:pic>
      <p:sp>
        <p:nvSpPr>
          <p:cNvPr id="149" name="Label 12"/>
          <p:cNvSpPr txBox="1"/>
          <p:nvPr/>
        </p:nvSpPr>
        <p:spPr>
          <a:xfrm>
            <a:off x="8760841" y="4440000"/>
            <a:ext cx="2729683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B27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Menu-Driven Programming</a:t>
            </a:r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70221" y="5336183"/>
            <a:ext cx="1521779" cy="15218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2095"/>
            <a:ext cx="6296860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F4E7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Benefits &amp; Conclusion</a:t>
            </a:r>
            <a:endParaRPr lang="en-US" sz="2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158776"/>
            <a:ext cx="277607" cy="2776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1563787"/>
            <a:ext cx="3084733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✅</a:t>
            </a:r>
            <a:r>
              <a:rPr lang="en-US" sz="1350" dirty="0">
                <a:solidFill>
                  <a:srgbClr val="1F4E7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Easy Access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61475" y="1841798"/>
            <a:ext cx="3084733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Passengers get instant access to all flight information in one organized system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3602" y="1158776"/>
            <a:ext cx="277607" cy="27761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873602" y="1563787"/>
            <a:ext cx="3084733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⚡</a:t>
            </a:r>
            <a:r>
              <a:rPr lang="en-US" sz="1350" dirty="0">
                <a:solidFill>
                  <a:srgbClr val="1F4E7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Fast Search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3873602" y="1841798"/>
            <a:ext cx="3084733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Quick and efficient flight searching saves time for both staff and travelers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430760"/>
            <a:ext cx="277607" cy="27761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1475" y="2835771"/>
            <a:ext cx="3084733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📋</a:t>
            </a:r>
            <a:r>
              <a:rPr lang="en-US" sz="1350" dirty="0">
                <a:solidFill>
                  <a:srgbClr val="1F4E7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Organized Schedules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661475" y="3113782"/>
            <a:ext cx="3084733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All flight schedules are neatly structured and easy to manage at scale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73602" y="2430760"/>
            <a:ext cx="277607" cy="27761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873602" y="2835771"/>
            <a:ext cx="3084733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🎯</a:t>
            </a:r>
            <a:r>
              <a:rPr lang="en-US" sz="1350" dirty="0">
                <a:solidFill>
                  <a:srgbClr val="1F4E7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Simple Management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3873602" y="3113782"/>
            <a:ext cx="3084733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Add, update, remove, and track flights with straightforward operations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702745"/>
            <a:ext cx="277607" cy="27761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61475" y="4107755"/>
            <a:ext cx="3084733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👥</a:t>
            </a:r>
            <a:r>
              <a:rPr lang="en-US" sz="1350" dirty="0">
                <a:solidFill>
                  <a:srgbClr val="1F4E7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Informed Passengers</a:t>
            </a:r>
            <a:endParaRPr lang="en-US" sz="1350" dirty="0"/>
          </a:p>
        </p:txBody>
      </p:sp>
      <p:sp>
        <p:nvSpPr>
          <p:cNvPr id="18" name="Text 10"/>
          <p:cNvSpPr/>
          <p:nvPr/>
        </p:nvSpPr>
        <p:spPr>
          <a:xfrm>
            <a:off x="661475" y="4385766"/>
            <a:ext cx="3084733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status updates keep every traveler aware of current flight conditions</a:t>
            </a:r>
            <a:endParaRPr lang="en-US" sz="10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5457726"/>
            <a:ext cx="1400239" cy="1400274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2095"/>
            <a:ext cx="6296860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F4E7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Future Scope</a:t>
            </a:r>
            <a:endParaRPr lang="en-US" sz="2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158776"/>
            <a:ext cx="277607" cy="2776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1563787"/>
            <a:ext cx="3084733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💾</a:t>
            </a:r>
            <a:r>
              <a:rPr lang="en-US" sz="1350" dirty="0">
                <a:solidFill>
                  <a:srgbClr val="1F4E7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Database Integration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61475" y="1841798"/>
            <a:ext cx="3084733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Store flight data permanently in files or a database such as MySQL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3602" y="1158776"/>
            <a:ext cx="277607" cy="27761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873602" y="1563787"/>
            <a:ext cx="3084733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💻</a:t>
            </a:r>
            <a:r>
              <a:rPr lang="en-US" sz="1350" dirty="0">
                <a:solidFill>
                  <a:srgbClr val="1F4E7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Graphical Interface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3873602" y="1841798"/>
            <a:ext cx="3084733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Replace the console menu with a user-friendly GUI or web dashboard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430760"/>
            <a:ext cx="277607" cy="27761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1475" y="2835771"/>
            <a:ext cx="3084733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🔔</a:t>
            </a:r>
            <a:r>
              <a:rPr lang="en-US" sz="1350" dirty="0">
                <a:solidFill>
                  <a:srgbClr val="1F4E7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Passenger Alerts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661475" y="3113782"/>
            <a:ext cx="3084733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Send SMS or email alerts for delays, gate changes and cancellations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73602" y="2430760"/>
            <a:ext cx="277607" cy="27761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873602" y="2835771"/>
            <a:ext cx="3084733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🌐</a:t>
            </a:r>
            <a:r>
              <a:rPr lang="en-US" sz="1350" dirty="0">
                <a:solidFill>
                  <a:srgbClr val="1F4E7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Live Data Feeds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3873602" y="3113782"/>
            <a:ext cx="3084733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Connect to real flight APIs and support multiple airports at once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702745"/>
            <a:ext cx="277607" cy="27761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61475" y="4107755"/>
            <a:ext cx="3084733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🎫</a:t>
            </a:r>
            <a:r>
              <a:rPr lang="en-US" sz="1350" dirty="0">
                <a:solidFill>
                  <a:srgbClr val="1F4E7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Booking &amp; Gates</a:t>
            </a:r>
            <a:endParaRPr lang="en-US" sz="1350" dirty="0"/>
          </a:p>
        </p:txBody>
      </p:sp>
      <p:sp>
        <p:nvSpPr>
          <p:cNvPr id="18" name="Text 10"/>
          <p:cNvSpPr/>
          <p:nvPr/>
        </p:nvSpPr>
        <p:spPr>
          <a:xfrm>
            <a:off x="661475" y="4385766"/>
            <a:ext cx="3084733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 ticket booking, gate assignment and baggage tracking</a:t>
            </a:r>
            <a:endParaRPr lang="en-US" sz="10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457726"/>
            <a:ext cx="1400239" cy="1400274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282" y="0"/>
            <a:ext cx="5156413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4563" y="2509934"/>
            <a:ext cx="6603772" cy="1110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dirty="0">
                <a:solidFill>
                  <a:srgbClr val="1F4E79"/>
                </a:solidFill>
                <a:latin typeface="Wide Latin" panose="020A0A07050505020404" pitchFamily="18" charset="0"/>
                <a:ea typeface="Alexandria" pitchFamily="34" charset="-122"/>
                <a:cs typeface="Alexandria" panose="020B0604020202020204" charset="-78"/>
              </a:rPr>
              <a:t>Thank You</a:t>
            </a:r>
            <a:endParaRPr lang="en-US" sz="5400" dirty="0">
              <a:latin typeface="Wide Latin" panose="020A0A07050505020404" pitchFamily="18" charset="0"/>
              <a:cs typeface="Alexandria" panose="020B0604020202020204" charset="-78"/>
            </a:endParaRPr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57726"/>
            <a:ext cx="1400239" cy="1400274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648</Words>
  <Application>Microsoft Office PowerPoint</Application>
  <PresentationFormat>Widescreen</PresentationFormat>
  <Paragraphs>112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Alexandria Light</vt:lpstr>
      <vt:lpstr>Arial</vt:lpstr>
      <vt:lpstr>Alexandria</vt:lpstr>
      <vt:lpstr>Consolas</vt:lpstr>
      <vt:lpstr>Nobile</vt:lpstr>
      <vt:lpstr>Wide Latin</vt:lpstr>
      <vt:lpstr>Nobile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abhinav yamjala</cp:lastModifiedBy>
  <cp:revision>4</cp:revision>
  <dcterms:created xsi:type="dcterms:W3CDTF">2026-09-23T03:51:18Z</dcterms:created>
  <dcterms:modified xsi:type="dcterms:W3CDTF">2026-10-07T02:56:09Z</dcterms:modified>
</cp:coreProperties>
</file>